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Outfit"/>
      <p:regular r:id="rId21"/>
      <p:bold r:id="rId22"/>
    </p:embeddedFont>
    <p:embeddedFont>
      <p:font typeface="Outfit Medium"/>
      <p:regular r:id="rId23"/>
      <p:bold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Outfit-bold.fntdata"/><Relationship Id="rId21" Type="http://schemas.openxmlformats.org/officeDocument/2006/relationships/font" Target="fonts/Outfit-regular.fntdata"/><Relationship Id="rId24" Type="http://schemas.openxmlformats.org/officeDocument/2006/relationships/font" Target="fonts/OutfitMedium-bold.fntdata"/><Relationship Id="rId23" Type="http://schemas.openxmlformats.org/officeDocument/2006/relationships/font" Target="fonts/Outfit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a658b0875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a658b0875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a4b2bcab1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a4b2bcab1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46a131ec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46a131ec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46a131ec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46a131ec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 x and y names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4b63c5c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a4b63c5c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a658b08750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a658b08750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46a131ec5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a46a131ec5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46a131ec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46a131ec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46a131ec5_7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46a131ec5_7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people are driving during this time, so there may be more casualties in those conditions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4b63c5c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a4b63c5c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658b08750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a658b08750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a4b2bcab1f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a4b2bcab1f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54dda1946d_6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54dda1946d_6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grpSp>
        <p:nvGrpSpPr>
          <p:cNvPr id="28" name="Google Shape;28;p5"/>
          <p:cNvGrpSpPr/>
          <p:nvPr/>
        </p:nvGrpSpPr>
        <p:grpSpPr>
          <a:xfrm>
            <a:off x="-247298" y="-446215"/>
            <a:ext cx="9638600" cy="6030088"/>
            <a:chOff x="-247298" y="-446215"/>
            <a:chExt cx="9638600" cy="6030088"/>
          </a:xfrm>
        </p:grpSpPr>
        <p:sp>
          <p:nvSpPr>
            <p:cNvPr id="29" name="Google Shape;29;p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1" name="Google Shape;41;p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grpSp>
        <p:nvGrpSpPr>
          <p:cNvPr id="43" name="Google Shape;43;p6"/>
          <p:cNvGrpSpPr/>
          <p:nvPr/>
        </p:nvGrpSpPr>
        <p:grpSpPr>
          <a:xfrm>
            <a:off x="-247298" y="-284290"/>
            <a:ext cx="9638600" cy="5868163"/>
            <a:chOff x="-247298" y="-284290"/>
            <a:chExt cx="9638600" cy="5868163"/>
          </a:xfrm>
        </p:grpSpPr>
        <p:sp>
          <p:nvSpPr>
            <p:cNvPr id="44" name="Google Shape;44;p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0" name="Google Shape;60;p9"/>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p:nvPr>
            <p:ph idx="2" type="pic"/>
          </p:nvPr>
        </p:nvSpPr>
        <p:spPr>
          <a:xfrm>
            <a:off x="-25" y="-13725"/>
            <a:ext cx="9144000" cy="5157300"/>
          </a:xfrm>
          <a:prstGeom prst="rect">
            <a:avLst/>
          </a:prstGeom>
          <a:noFill/>
          <a:ln>
            <a:noFill/>
          </a:ln>
        </p:spPr>
      </p:sp>
      <p:sp>
        <p:nvSpPr>
          <p:cNvPr id="63" name="Google Shape;63;p10"/>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13"/>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13"/>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 name="Google Shape;81;p13"/>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3"/>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3"/>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3"/>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3"/>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 name="Google Shape;92;p13"/>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 name="Google Shape;93;p13"/>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4" name="Google Shape;94;p13"/>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5" name="Google Shape;95;p13"/>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6" name="Google Shape;96;p13"/>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8" name="Google Shape;108;p14"/>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 name="Shape 109"/>
        <p:cNvGrpSpPr/>
        <p:nvPr/>
      </p:nvGrpSpPr>
      <p:grpSpPr>
        <a:xfrm>
          <a:off x="0" y="0"/>
          <a:ext cx="0" cy="0"/>
          <a:chOff x="0" y="0"/>
          <a:chExt cx="0" cy="0"/>
        </a:xfrm>
      </p:grpSpPr>
      <p:grpSp>
        <p:nvGrpSpPr>
          <p:cNvPr id="110" name="Google Shape;110;p15"/>
          <p:cNvGrpSpPr/>
          <p:nvPr/>
        </p:nvGrpSpPr>
        <p:grpSpPr>
          <a:xfrm>
            <a:off x="-535133" y="-37823"/>
            <a:ext cx="10207495" cy="5621696"/>
            <a:chOff x="-535133" y="-37823"/>
            <a:chExt cx="10207495" cy="5621696"/>
          </a:xfrm>
        </p:grpSpPr>
        <p:sp>
          <p:nvSpPr>
            <p:cNvPr id="111" name="Google Shape;111;p1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20" name="Shape 120"/>
        <p:cNvGrpSpPr/>
        <p:nvPr/>
      </p:nvGrpSpPr>
      <p:grpSpPr>
        <a:xfrm>
          <a:off x="0" y="0"/>
          <a:ext cx="0" cy="0"/>
          <a:chOff x="0" y="0"/>
          <a:chExt cx="0" cy="0"/>
        </a:xfrm>
      </p:grpSpPr>
      <p:grpSp>
        <p:nvGrpSpPr>
          <p:cNvPr id="121" name="Google Shape;121;p16"/>
          <p:cNvGrpSpPr/>
          <p:nvPr/>
        </p:nvGrpSpPr>
        <p:grpSpPr>
          <a:xfrm>
            <a:off x="-247298" y="-446215"/>
            <a:ext cx="9638610" cy="6030088"/>
            <a:chOff x="-247298" y="-446215"/>
            <a:chExt cx="9638610" cy="6030088"/>
          </a:xfrm>
        </p:grpSpPr>
        <p:sp>
          <p:nvSpPr>
            <p:cNvPr id="122" name="Google Shape;122;p16"/>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42" name="Shape 142"/>
        <p:cNvGrpSpPr/>
        <p:nvPr/>
      </p:nvGrpSpPr>
      <p:grpSpPr>
        <a:xfrm>
          <a:off x="0" y="0"/>
          <a:ext cx="0" cy="0"/>
          <a:chOff x="0" y="0"/>
          <a:chExt cx="0" cy="0"/>
        </a:xfrm>
      </p:grpSpPr>
      <p:sp>
        <p:nvSpPr>
          <p:cNvPr id="143" name="Google Shape;14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44" name="Google Shape;144;p18"/>
          <p:cNvGrpSpPr/>
          <p:nvPr/>
        </p:nvGrpSpPr>
        <p:grpSpPr>
          <a:xfrm>
            <a:off x="-476796" y="2900252"/>
            <a:ext cx="10097585" cy="2865204"/>
            <a:chOff x="-476796" y="2900252"/>
            <a:chExt cx="10097585" cy="2865204"/>
          </a:xfrm>
        </p:grpSpPr>
        <p:grpSp>
          <p:nvGrpSpPr>
            <p:cNvPr id="145" name="Google Shape;145;p18"/>
            <p:cNvGrpSpPr/>
            <p:nvPr/>
          </p:nvGrpSpPr>
          <p:grpSpPr>
            <a:xfrm>
              <a:off x="-476796" y="2900252"/>
              <a:ext cx="10097585" cy="2865204"/>
              <a:chOff x="-476796" y="2900252"/>
              <a:chExt cx="10097585" cy="2865204"/>
            </a:xfrm>
          </p:grpSpPr>
          <p:sp>
            <p:nvSpPr>
              <p:cNvPr id="146" name="Google Shape;146;p18"/>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8"/>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4"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9"/>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5" name="Google Shape;165;p19"/>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6" name="Google Shape;166;p19"/>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7" name="Shape 167"/>
        <p:cNvGrpSpPr/>
        <p:nvPr/>
      </p:nvGrpSpPr>
      <p:grpSpPr>
        <a:xfrm>
          <a:off x="0" y="0"/>
          <a:ext cx="0" cy="0"/>
          <a:chOff x="0" y="0"/>
          <a:chExt cx="0" cy="0"/>
        </a:xfrm>
      </p:grpSpPr>
      <p:grpSp>
        <p:nvGrpSpPr>
          <p:cNvPr id="168" name="Google Shape;168;p20"/>
          <p:cNvGrpSpPr/>
          <p:nvPr/>
        </p:nvGrpSpPr>
        <p:grpSpPr>
          <a:xfrm>
            <a:off x="-247298" y="-446215"/>
            <a:ext cx="9638600" cy="6030088"/>
            <a:chOff x="-247298" y="-446215"/>
            <a:chExt cx="9638600" cy="6030088"/>
          </a:xfrm>
        </p:grpSpPr>
        <p:sp>
          <p:nvSpPr>
            <p:cNvPr id="169" name="Google Shape;169;p2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2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2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9" name="Shape 179"/>
        <p:cNvGrpSpPr/>
        <p:nvPr/>
      </p:nvGrpSpPr>
      <p:grpSpPr>
        <a:xfrm>
          <a:off x="0" y="0"/>
          <a:ext cx="0" cy="0"/>
          <a:chOff x="0" y="0"/>
          <a:chExt cx="0" cy="0"/>
        </a:xfrm>
      </p:grpSpPr>
      <p:grpSp>
        <p:nvGrpSpPr>
          <p:cNvPr id="180" name="Google Shape;180;p21"/>
          <p:cNvGrpSpPr/>
          <p:nvPr/>
        </p:nvGrpSpPr>
        <p:grpSpPr>
          <a:xfrm flipH="1">
            <a:off x="-247298" y="-446215"/>
            <a:ext cx="9638600" cy="6030088"/>
            <a:chOff x="-247298" y="-446215"/>
            <a:chExt cx="9638600" cy="6030088"/>
          </a:xfrm>
        </p:grpSpPr>
        <p:sp>
          <p:nvSpPr>
            <p:cNvPr id="181" name="Google Shape;181;p2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1"/>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21"/>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91" name="Shape 191"/>
        <p:cNvGrpSpPr/>
        <p:nvPr/>
      </p:nvGrpSpPr>
      <p:grpSpPr>
        <a:xfrm>
          <a:off x="0" y="0"/>
          <a:ext cx="0" cy="0"/>
          <a:chOff x="0" y="0"/>
          <a:chExt cx="0" cy="0"/>
        </a:xfrm>
      </p:grpSpPr>
      <p:grpSp>
        <p:nvGrpSpPr>
          <p:cNvPr id="192" name="Google Shape;192;p22"/>
          <p:cNvGrpSpPr/>
          <p:nvPr/>
        </p:nvGrpSpPr>
        <p:grpSpPr>
          <a:xfrm>
            <a:off x="-247298" y="-446215"/>
            <a:ext cx="9638600" cy="6030088"/>
            <a:chOff x="-247298" y="-446215"/>
            <a:chExt cx="9638600" cy="6030088"/>
          </a:xfrm>
        </p:grpSpPr>
        <p:sp>
          <p:nvSpPr>
            <p:cNvPr id="193" name="Google Shape;193;p2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2"/>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03" name="Shape 203"/>
        <p:cNvGrpSpPr/>
        <p:nvPr/>
      </p:nvGrpSpPr>
      <p:grpSpPr>
        <a:xfrm>
          <a:off x="0" y="0"/>
          <a:ext cx="0" cy="0"/>
          <a:chOff x="0" y="0"/>
          <a:chExt cx="0" cy="0"/>
        </a:xfrm>
      </p:grpSpPr>
      <p:grpSp>
        <p:nvGrpSpPr>
          <p:cNvPr id="204" name="Google Shape;204;p23"/>
          <p:cNvGrpSpPr/>
          <p:nvPr/>
        </p:nvGrpSpPr>
        <p:grpSpPr>
          <a:xfrm>
            <a:off x="-535133" y="-37823"/>
            <a:ext cx="10207495" cy="5621696"/>
            <a:chOff x="-535133" y="-37823"/>
            <a:chExt cx="10207495" cy="5621696"/>
          </a:xfrm>
        </p:grpSpPr>
        <p:sp>
          <p:nvSpPr>
            <p:cNvPr id="205" name="Google Shape;205;p2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3"/>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15"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6" name="Google Shape;226;p24"/>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 name="Google Shape;227;p24"/>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8" name="Google Shape;228;p24"/>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4"/>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0"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1" name="Google Shape;241;p25"/>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5"/>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43"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2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2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8" name="Google Shape;258;p2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9" name="Google Shape;259;p2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0"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1" name="Google Shape;271;p27"/>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27"/>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27"/>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27"/>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27"/>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6" name="Google Shape;276;p27"/>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7" name="Google Shape;277;p27"/>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8" name="Google Shape;278;p27"/>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9"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8"/>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 name="Google Shape;28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0" name="Google Shape;290;p28"/>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8"/>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8"/>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8"/>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28"/>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8"/>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6" name="Google Shape;296;p28"/>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7" name="Google Shape;297;p28"/>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8" name="Google Shape;298;p28"/>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9" name="Google Shape;299;p28"/>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0" name="Google Shape;300;p28"/>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1" name="Google Shape;301;p28"/>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2" name="Shape 302"/>
        <p:cNvGrpSpPr/>
        <p:nvPr/>
      </p:nvGrpSpPr>
      <p:grpSpPr>
        <a:xfrm>
          <a:off x="0" y="0"/>
          <a:ext cx="0" cy="0"/>
          <a:chOff x="0" y="0"/>
          <a:chExt cx="0" cy="0"/>
        </a:xfrm>
      </p:grpSpPr>
      <p:sp>
        <p:nvSpPr>
          <p:cNvPr id="303" name="Google Shape;303;p29"/>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5" name="Google Shape;305;p29"/>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7" name="Google Shape;307;p29"/>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9" name="Shape 309"/>
        <p:cNvGrpSpPr/>
        <p:nvPr/>
      </p:nvGrpSpPr>
      <p:grpSpPr>
        <a:xfrm>
          <a:off x="0" y="0"/>
          <a:ext cx="0" cy="0"/>
          <a:chOff x="0" y="0"/>
          <a:chExt cx="0" cy="0"/>
        </a:xfrm>
      </p:grpSpPr>
      <p:sp>
        <p:nvSpPr>
          <p:cNvPr id="310" name="Google Shape;310;p30"/>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1" name="Google Shape;311;p30"/>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2" name="Google Shape;312;p30"/>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3"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3"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2"/>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32"/>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ph type="ctrTitle"/>
          </p:nvPr>
        </p:nvSpPr>
        <p:spPr>
          <a:xfrm>
            <a:off x="713225" y="1914725"/>
            <a:ext cx="4160700" cy="238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300"/>
              <a:t>Analysis of Road Deaths in the U.S. in 2022</a:t>
            </a:r>
            <a:br>
              <a:rPr b="1" lang="en"/>
            </a:br>
            <a:endParaRPr sz="1800"/>
          </a:p>
          <a:p>
            <a:pPr indent="0" lvl="0" marL="0" rtl="0" algn="l">
              <a:spcBef>
                <a:spcPts val="0"/>
              </a:spcBef>
              <a:spcAft>
                <a:spcPts val="0"/>
              </a:spcAft>
              <a:buNone/>
            </a:pPr>
            <a:r>
              <a:rPr lang="en" sz="1800"/>
              <a:t>Using the Fatality Analysis Reporting System (FARS) 2022 - Accidents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500"/>
              <a:t>Group  6 Members: Kipras Kairys, Robert Backe, Adriano Onate, and Maxwell Shank</a:t>
            </a:r>
            <a:endParaRPr sz="1500"/>
          </a:p>
        </p:txBody>
      </p:sp>
      <p:grpSp>
        <p:nvGrpSpPr>
          <p:cNvPr id="339" name="Google Shape;339;p33"/>
          <p:cNvGrpSpPr/>
          <p:nvPr/>
        </p:nvGrpSpPr>
        <p:grpSpPr>
          <a:xfrm>
            <a:off x="5115337" y="-428624"/>
            <a:ext cx="4275118" cy="6450405"/>
            <a:chOff x="5115337" y="-428624"/>
            <a:chExt cx="4275118" cy="6450405"/>
          </a:xfrm>
        </p:grpSpPr>
        <p:sp>
          <p:nvSpPr>
            <p:cNvPr id="340" name="Google Shape;340;p33"/>
            <p:cNvSpPr/>
            <p:nvPr/>
          </p:nvSpPr>
          <p:spPr>
            <a:xfrm flipH="1" rot="10800000">
              <a:off x="8492525" y="-1927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3"/>
            <p:cNvSpPr/>
            <p:nvPr/>
          </p:nvSpPr>
          <p:spPr>
            <a:xfrm>
              <a:off x="8551745" y="32678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p:nvPr/>
          </p:nvSpPr>
          <p:spPr>
            <a:xfrm>
              <a:off x="6606686"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7103477"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684072"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6109895" y="1194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6109895" y="697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7587339" y="1194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5634170" y="-42862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a:off x="7017892"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a:off x="5193798" y="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8068891" y="16222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flipH="1" rot="10800000">
              <a:off x="5115337" y="3655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flipH="1" rot="10800000">
              <a:off x="6606680" y="39247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flipH="1" rot="10800000">
              <a:off x="5983934" y="50536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flipH="1" rot="10800000">
              <a:off x="7178797" y="35333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flipH="1" rot="10800000">
              <a:off x="6606686" y="4609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flipH="1" rot="10800000">
              <a:off x="5526543" y="41283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a:off x="8117298" y="28522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a:off x="8172542" y="3036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437675" y="19800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Goal</a:t>
            </a:r>
            <a:endParaRPr/>
          </a:p>
        </p:txBody>
      </p:sp>
      <p:grpSp>
        <p:nvGrpSpPr>
          <p:cNvPr id="365" name="Google Shape;365;p34"/>
          <p:cNvGrpSpPr/>
          <p:nvPr/>
        </p:nvGrpSpPr>
        <p:grpSpPr>
          <a:xfrm>
            <a:off x="5430930" y="-445784"/>
            <a:ext cx="4086563" cy="6064817"/>
            <a:chOff x="5430930" y="-445784"/>
            <a:chExt cx="4086563" cy="6064817"/>
          </a:xfrm>
        </p:grpSpPr>
        <p:sp>
          <p:nvSpPr>
            <p:cNvPr id="366" name="Google Shape;366;p34"/>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4"/>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4"/>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4"/>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4"/>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4"/>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4"/>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4"/>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4"/>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4"/>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4"/>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4"/>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4"/>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4"/>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4"/>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34"/>
          <p:cNvSpPr txBox="1"/>
          <p:nvPr/>
        </p:nvSpPr>
        <p:spPr>
          <a:xfrm>
            <a:off x="247050" y="1254375"/>
            <a:ext cx="5046300" cy="326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100">
                <a:solidFill>
                  <a:schemeClr val="dk1"/>
                </a:solidFill>
                <a:latin typeface="DM Sans"/>
                <a:ea typeface="DM Sans"/>
                <a:cs typeface="DM Sans"/>
                <a:sym typeface="DM Sans"/>
              </a:rPr>
              <a:t>The objective of this project is to analyze the 2022 Fatality Analysis Reporting System (FARS) dataset to identify key factors associated with fatal crashes in the United States and to generate insights that may inform strategies for reducing high-risk driving conditions.</a:t>
            </a:r>
            <a:endParaRPr sz="21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5"/>
          <p:cNvSpPr txBox="1"/>
          <p:nvPr>
            <p:ph type="title"/>
          </p:nvPr>
        </p:nvSpPr>
        <p:spPr>
          <a:xfrm>
            <a:off x="437675" y="19800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this matters?</a:t>
            </a:r>
            <a:endParaRPr/>
          </a:p>
        </p:txBody>
      </p:sp>
      <p:grpSp>
        <p:nvGrpSpPr>
          <p:cNvPr id="390" name="Google Shape;390;p35"/>
          <p:cNvGrpSpPr/>
          <p:nvPr/>
        </p:nvGrpSpPr>
        <p:grpSpPr>
          <a:xfrm>
            <a:off x="5430930" y="-445784"/>
            <a:ext cx="4086563" cy="6064817"/>
            <a:chOff x="5430930" y="-445784"/>
            <a:chExt cx="4086563" cy="6064817"/>
          </a:xfrm>
        </p:grpSpPr>
        <p:sp>
          <p:nvSpPr>
            <p:cNvPr id="391" name="Google Shape;391;p35"/>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5"/>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5"/>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5"/>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5"/>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5"/>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5"/>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5"/>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5"/>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5"/>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5"/>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5"/>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 name="Google Shape;409;p35"/>
          <p:cNvSpPr txBox="1"/>
          <p:nvPr/>
        </p:nvSpPr>
        <p:spPr>
          <a:xfrm>
            <a:off x="247050" y="1254375"/>
            <a:ext cx="5046300" cy="326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100">
                <a:solidFill>
                  <a:schemeClr val="dk1"/>
                </a:solidFill>
                <a:latin typeface="DM Sans"/>
                <a:ea typeface="DM Sans"/>
                <a:cs typeface="DM Sans"/>
                <a:sym typeface="DM Sans"/>
              </a:rPr>
              <a:t>We’ve all been affected by car accidents in one way or another, whether through our own experiences or those of people we know. Understanding the common factors behind these crashes is crucial, as it allows us to develop better measures to prevent them or reduce their impact.</a:t>
            </a:r>
            <a:endParaRPr sz="21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6"/>
          <p:cNvSpPr txBox="1"/>
          <p:nvPr>
            <p:ph type="title"/>
          </p:nvPr>
        </p:nvSpPr>
        <p:spPr>
          <a:xfrm>
            <a:off x="437675" y="19800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Description</a:t>
            </a:r>
            <a:endParaRPr/>
          </a:p>
        </p:txBody>
      </p:sp>
      <p:sp>
        <p:nvSpPr>
          <p:cNvPr id="415" name="Google Shape;415;p36"/>
          <p:cNvSpPr txBox="1"/>
          <p:nvPr>
            <p:ph idx="1" type="subTitle"/>
          </p:nvPr>
        </p:nvSpPr>
        <p:spPr>
          <a:xfrm>
            <a:off x="120075" y="990375"/>
            <a:ext cx="5914500" cy="21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595959"/>
                </a:solidFill>
                <a:latin typeface="Arial"/>
                <a:ea typeface="Arial"/>
                <a:cs typeface="Arial"/>
                <a:sym typeface="Arial"/>
              </a:rPr>
              <a:t>The dataset was obtained in the US from Jan. 1, 2022, through Dec. 31, 2022, by the National Highway Traffic Safety Administration to collect data on fatal crashes. </a:t>
            </a:r>
            <a:endParaRPr sz="1500">
              <a:solidFill>
                <a:srgbClr val="595959"/>
              </a:solidFill>
              <a:latin typeface="Arial"/>
              <a:ea typeface="Arial"/>
              <a:cs typeface="Arial"/>
              <a:sym typeface="Arial"/>
            </a:endParaRPr>
          </a:p>
          <a:p>
            <a:pPr indent="0" lvl="0" marL="0" rtl="0" algn="l">
              <a:spcBef>
                <a:spcPts val="1200"/>
              </a:spcBef>
              <a:spcAft>
                <a:spcPts val="0"/>
              </a:spcAft>
              <a:buNone/>
            </a:pPr>
            <a:r>
              <a:rPr lang="en" sz="1500">
                <a:solidFill>
                  <a:srgbClr val="595959"/>
                </a:solidFill>
                <a:latin typeface="Arial"/>
                <a:ea typeface="Arial"/>
                <a:cs typeface="Arial"/>
                <a:sym typeface="Arial"/>
              </a:rPr>
              <a:t>Contains information relating to state, county, city, number of persons involved, month, day, year, hour, minute, street address, route, rural/urban, road owner name, NHS, special jurisdiction, mile point, latitude, longitude, cause of collision, collision direction, light condition, weather, EMS arrival, hospital arrival, and number of fatalities for each entry in the data set. </a:t>
            </a:r>
            <a:endParaRPr sz="1500">
              <a:solidFill>
                <a:srgbClr val="595959"/>
              </a:solidFill>
              <a:latin typeface="Arial"/>
              <a:ea typeface="Arial"/>
              <a:cs typeface="Arial"/>
              <a:sym typeface="Arial"/>
            </a:endParaRPr>
          </a:p>
          <a:p>
            <a:pPr indent="0" lvl="0" marL="0" rtl="0" algn="l">
              <a:spcBef>
                <a:spcPts val="1200"/>
              </a:spcBef>
              <a:spcAft>
                <a:spcPts val="0"/>
              </a:spcAft>
              <a:buNone/>
            </a:pPr>
            <a:r>
              <a:rPr b="1" lang="en" sz="1500" u="sng">
                <a:solidFill>
                  <a:srgbClr val="595959"/>
                </a:solidFill>
                <a:latin typeface="Arial"/>
                <a:ea typeface="Arial"/>
                <a:cs typeface="Arial"/>
                <a:sym typeface="Arial"/>
              </a:rPr>
              <a:t>Dataset Structure:</a:t>
            </a:r>
            <a:r>
              <a:rPr lang="en" sz="1500">
                <a:solidFill>
                  <a:srgbClr val="595959"/>
                </a:solidFill>
                <a:latin typeface="Arial"/>
                <a:ea typeface="Arial"/>
                <a:cs typeface="Arial"/>
                <a:sym typeface="Arial"/>
              </a:rPr>
              <a:t> 58 Columns and 39682 Rows</a:t>
            </a:r>
            <a:endParaRPr sz="1500">
              <a:solidFill>
                <a:srgbClr val="595959"/>
              </a:solidFill>
              <a:latin typeface="Arial"/>
              <a:ea typeface="Arial"/>
              <a:cs typeface="Arial"/>
              <a:sym typeface="Arial"/>
            </a:endParaRPr>
          </a:p>
          <a:p>
            <a:pPr indent="0" lvl="0" marL="0" rtl="0" algn="l">
              <a:spcBef>
                <a:spcPts val="1200"/>
              </a:spcBef>
              <a:spcAft>
                <a:spcPts val="0"/>
              </a:spcAft>
              <a:buNone/>
            </a:pPr>
            <a:r>
              <a:rPr b="1" lang="en" sz="1500" u="sng">
                <a:solidFill>
                  <a:srgbClr val="595959"/>
                </a:solidFill>
                <a:latin typeface="Arial"/>
                <a:ea typeface="Arial"/>
                <a:cs typeface="Arial"/>
                <a:sym typeface="Arial"/>
              </a:rPr>
              <a:t>Data Types:</a:t>
            </a:r>
            <a:r>
              <a:rPr lang="en" sz="1500">
                <a:solidFill>
                  <a:srgbClr val="595959"/>
                </a:solidFill>
                <a:latin typeface="Arial"/>
                <a:ea typeface="Arial"/>
                <a:cs typeface="Arial"/>
                <a:sym typeface="Arial"/>
              </a:rPr>
              <a:t> String, Int, and Double</a:t>
            </a:r>
            <a:endParaRPr sz="1500">
              <a:solidFill>
                <a:srgbClr val="595959"/>
              </a:solidFill>
              <a:latin typeface="Arial"/>
              <a:ea typeface="Arial"/>
              <a:cs typeface="Arial"/>
              <a:sym typeface="Arial"/>
            </a:endParaRPr>
          </a:p>
          <a:p>
            <a:pPr indent="0" lvl="0" marL="0" rtl="0" algn="l">
              <a:spcBef>
                <a:spcPts val="1200"/>
              </a:spcBef>
              <a:spcAft>
                <a:spcPts val="0"/>
              </a:spcAft>
              <a:buNone/>
            </a:pPr>
            <a:r>
              <a:t/>
            </a:r>
            <a:endParaRPr/>
          </a:p>
        </p:txBody>
      </p:sp>
      <p:grpSp>
        <p:nvGrpSpPr>
          <p:cNvPr id="416" name="Google Shape;416;p36"/>
          <p:cNvGrpSpPr/>
          <p:nvPr/>
        </p:nvGrpSpPr>
        <p:grpSpPr>
          <a:xfrm>
            <a:off x="5430930" y="-445784"/>
            <a:ext cx="4086563" cy="6064817"/>
            <a:chOff x="5430930" y="-445784"/>
            <a:chExt cx="4086563" cy="6064817"/>
          </a:xfrm>
        </p:grpSpPr>
        <p:sp>
          <p:nvSpPr>
            <p:cNvPr id="417" name="Google Shape;417;p36"/>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6"/>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6"/>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6"/>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6"/>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6"/>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6"/>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6"/>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6"/>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6"/>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6"/>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6"/>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6"/>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6"/>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7"/>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Descriptive</a:t>
            </a:r>
            <a:endParaRPr/>
          </a:p>
        </p:txBody>
      </p:sp>
      <p:sp>
        <p:nvSpPr>
          <p:cNvPr id="440" name="Google Shape;440;p37"/>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grpSp>
        <p:nvGrpSpPr>
          <p:cNvPr id="441" name="Google Shape;441;p37"/>
          <p:cNvGrpSpPr/>
          <p:nvPr/>
        </p:nvGrpSpPr>
        <p:grpSpPr>
          <a:xfrm>
            <a:off x="5104880" y="-153372"/>
            <a:ext cx="4218588" cy="6000577"/>
            <a:chOff x="5104880" y="-153372"/>
            <a:chExt cx="4218588" cy="6000577"/>
          </a:xfrm>
        </p:grpSpPr>
        <p:sp>
          <p:nvSpPr>
            <p:cNvPr id="442" name="Google Shape;442;p37"/>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7"/>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7"/>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7"/>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7"/>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59" name="Google Shape;459;p37"/>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8"/>
          <p:cNvSpPr txBox="1"/>
          <p:nvPr>
            <p:ph type="title"/>
          </p:nvPr>
        </p:nvSpPr>
        <p:spPr>
          <a:xfrm>
            <a:off x="225950" y="19800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Descriptive Analysis</a:t>
            </a:r>
            <a:endParaRPr sz="3900"/>
          </a:p>
        </p:txBody>
      </p:sp>
      <p:sp>
        <p:nvSpPr>
          <p:cNvPr id="465" name="Google Shape;465;p38"/>
          <p:cNvSpPr txBox="1"/>
          <p:nvPr>
            <p:ph idx="1" type="subTitle"/>
          </p:nvPr>
        </p:nvSpPr>
        <p:spPr>
          <a:xfrm>
            <a:off x="137725" y="1246225"/>
            <a:ext cx="5376300" cy="36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595959"/>
                </a:solidFill>
                <a:latin typeface="Arial"/>
                <a:ea typeface="Arial"/>
                <a:cs typeface="Arial"/>
                <a:sym typeface="Arial"/>
              </a:rPr>
              <a:t>What is the total number of fatalities associated with the top 10 most </a:t>
            </a:r>
            <a:r>
              <a:rPr b="1" lang="en" sz="2000">
                <a:solidFill>
                  <a:srgbClr val="595959"/>
                </a:solidFill>
                <a:latin typeface="Arial"/>
                <a:ea typeface="Arial"/>
                <a:cs typeface="Arial"/>
                <a:sym typeface="Arial"/>
              </a:rPr>
              <a:t>prevalent</a:t>
            </a:r>
            <a:r>
              <a:rPr b="1" lang="en" sz="2000">
                <a:solidFill>
                  <a:srgbClr val="595959"/>
                </a:solidFill>
                <a:latin typeface="Arial"/>
                <a:ea typeface="Arial"/>
                <a:cs typeface="Arial"/>
                <a:sym typeface="Arial"/>
              </a:rPr>
              <a:t> collision events?</a:t>
            </a:r>
            <a:endParaRPr b="1" sz="2000">
              <a:solidFill>
                <a:srgbClr val="595959"/>
              </a:solidFill>
              <a:latin typeface="Arial"/>
              <a:ea typeface="Arial"/>
              <a:cs typeface="Arial"/>
              <a:sym typeface="Arial"/>
            </a:endParaRPr>
          </a:p>
          <a:p>
            <a:pPr indent="0" lvl="0" marL="0" rtl="0" algn="l">
              <a:spcBef>
                <a:spcPts val="1200"/>
              </a:spcBef>
              <a:spcAft>
                <a:spcPts val="0"/>
              </a:spcAft>
              <a:buNone/>
            </a:pPr>
            <a:r>
              <a:rPr lang="en" sz="1800">
                <a:solidFill>
                  <a:srgbClr val="595959"/>
                </a:solidFill>
                <a:latin typeface="Arial"/>
                <a:ea typeface="Arial"/>
                <a:cs typeface="Arial"/>
                <a:sym typeface="Arial"/>
              </a:rPr>
              <a:t>Importance: We can use this analysis to identify the types of collision events most associated with fatal crashes and apply those insights to develop targeted safety measures that help reduce the number of deadly accidents on U.S. roads.</a:t>
            </a:r>
            <a:endParaRPr sz="1800">
              <a:solidFill>
                <a:srgbClr val="595959"/>
              </a:solidFill>
              <a:latin typeface="Arial"/>
              <a:ea typeface="Arial"/>
              <a:cs typeface="Arial"/>
              <a:sym typeface="Arial"/>
            </a:endParaRPr>
          </a:p>
          <a:p>
            <a:pPr indent="0" lvl="0" marL="0" rtl="0" algn="l">
              <a:spcBef>
                <a:spcPts val="1200"/>
              </a:spcBef>
              <a:spcAft>
                <a:spcPts val="0"/>
              </a:spcAft>
              <a:buNone/>
            </a:pPr>
            <a:r>
              <a:t/>
            </a:r>
            <a:endParaRPr sz="1500">
              <a:solidFill>
                <a:srgbClr val="595959"/>
              </a:solidFill>
              <a:latin typeface="Arial"/>
              <a:ea typeface="Arial"/>
              <a:cs typeface="Arial"/>
              <a:sym typeface="Arial"/>
            </a:endParaRPr>
          </a:p>
          <a:p>
            <a:pPr indent="0" lvl="0" marL="0" rtl="0" algn="l">
              <a:spcBef>
                <a:spcPts val="1200"/>
              </a:spcBef>
              <a:spcAft>
                <a:spcPts val="0"/>
              </a:spcAft>
              <a:buNone/>
            </a:pPr>
            <a:r>
              <a:t/>
            </a:r>
            <a:endParaRPr/>
          </a:p>
        </p:txBody>
      </p:sp>
      <p:grpSp>
        <p:nvGrpSpPr>
          <p:cNvPr id="466" name="Google Shape;466;p38"/>
          <p:cNvGrpSpPr/>
          <p:nvPr/>
        </p:nvGrpSpPr>
        <p:grpSpPr>
          <a:xfrm>
            <a:off x="5430930" y="-445784"/>
            <a:ext cx="4086563" cy="6064817"/>
            <a:chOff x="5430930" y="-445784"/>
            <a:chExt cx="4086563" cy="6064817"/>
          </a:xfrm>
        </p:grpSpPr>
        <p:sp>
          <p:nvSpPr>
            <p:cNvPr id="467" name="Google Shape;467;p38"/>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8"/>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8"/>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8"/>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8"/>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8"/>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8"/>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8"/>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8"/>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8"/>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8"/>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8"/>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8"/>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8"/>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8"/>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8"/>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8"/>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8"/>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39" title="Image 11-14-25 at 2.16 PM.jpeg"/>
          <p:cNvPicPr preferRelativeResize="0"/>
          <p:nvPr/>
        </p:nvPicPr>
        <p:blipFill rotWithShape="1">
          <a:blip r:embed="rId3">
            <a:alphaModFix/>
          </a:blip>
          <a:srcRect b="0" l="0" r="0" t="8071"/>
          <a:stretch/>
        </p:blipFill>
        <p:spPr>
          <a:xfrm>
            <a:off x="0" y="0"/>
            <a:ext cx="9144003" cy="5080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0"/>
          <p:cNvSpPr txBox="1"/>
          <p:nvPr>
            <p:ph type="title"/>
          </p:nvPr>
        </p:nvSpPr>
        <p:spPr>
          <a:xfrm>
            <a:off x="720000" y="3656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495" name="Google Shape;495;p40"/>
          <p:cNvSpPr txBox="1"/>
          <p:nvPr>
            <p:ph idx="1" type="subTitle"/>
          </p:nvPr>
        </p:nvSpPr>
        <p:spPr>
          <a:xfrm>
            <a:off x="508275" y="1149200"/>
            <a:ext cx="4086600" cy="3327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900">
                <a:solidFill>
                  <a:srgbClr val="595959"/>
                </a:solidFill>
                <a:highlight>
                  <a:srgbClr val="FFFFFF"/>
                </a:highlight>
                <a:latin typeface="Arial"/>
                <a:ea typeface="Arial"/>
                <a:cs typeface="Arial"/>
                <a:sym typeface="Arial"/>
              </a:rPr>
              <a:t>Motor Vehicle in Transport </a:t>
            </a:r>
            <a:r>
              <a:rPr lang="en" sz="1900">
                <a:solidFill>
                  <a:srgbClr val="595959"/>
                </a:solidFill>
                <a:highlight>
                  <a:srgbClr val="FFFFFF"/>
                </a:highlight>
                <a:latin typeface="Arial"/>
                <a:ea typeface="Arial"/>
                <a:cs typeface="Arial"/>
                <a:sym typeface="Arial"/>
              </a:rPr>
              <a:t>crashes result in far more fatalities than any other event type, followed by </a:t>
            </a:r>
            <a:r>
              <a:rPr b="1" lang="en" sz="1900">
                <a:solidFill>
                  <a:srgbClr val="595959"/>
                </a:solidFill>
                <a:highlight>
                  <a:srgbClr val="FFFFFF"/>
                </a:highlight>
                <a:latin typeface="Arial"/>
                <a:ea typeface="Arial"/>
                <a:cs typeface="Arial"/>
                <a:sym typeface="Arial"/>
              </a:rPr>
              <a:t>Pedestrian </a:t>
            </a:r>
            <a:r>
              <a:rPr lang="en" sz="1900">
                <a:solidFill>
                  <a:srgbClr val="595959"/>
                </a:solidFill>
                <a:highlight>
                  <a:srgbClr val="FFFFFF"/>
                </a:highlight>
                <a:latin typeface="Arial"/>
                <a:ea typeface="Arial"/>
                <a:cs typeface="Arial"/>
                <a:sym typeface="Arial"/>
              </a:rPr>
              <a:t>and </a:t>
            </a:r>
            <a:r>
              <a:rPr b="1" lang="en" sz="1900">
                <a:solidFill>
                  <a:srgbClr val="595959"/>
                </a:solidFill>
                <a:highlight>
                  <a:srgbClr val="FFFFFF"/>
                </a:highlight>
                <a:latin typeface="Arial"/>
                <a:ea typeface="Arial"/>
                <a:cs typeface="Arial"/>
                <a:sym typeface="Arial"/>
              </a:rPr>
              <a:t>Rollover/Overturn crashes</a:t>
            </a:r>
            <a:r>
              <a:rPr lang="en" sz="1900">
                <a:solidFill>
                  <a:srgbClr val="595959"/>
                </a:solidFill>
                <a:highlight>
                  <a:srgbClr val="FFFFFF"/>
                </a:highlight>
                <a:latin typeface="Arial"/>
                <a:ea typeface="Arial"/>
                <a:cs typeface="Arial"/>
                <a:sym typeface="Arial"/>
              </a:rPr>
              <a:t>. These findings help identify where targeted safety measures and policy efforts may be most effective in reducing fatal roadway incidents.</a:t>
            </a:r>
            <a:endParaRPr sz="1900">
              <a:solidFill>
                <a:srgbClr val="595959"/>
              </a:solidFill>
              <a:highlight>
                <a:srgbClr val="FFFFFF"/>
              </a:highlight>
              <a:latin typeface="Arial"/>
              <a:ea typeface="Arial"/>
              <a:cs typeface="Arial"/>
              <a:sym typeface="Arial"/>
            </a:endParaRPr>
          </a:p>
          <a:p>
            <a:pPr indent="0" lvl="0" marL="0" rtl="0" algn="l">
              <a:lnSpc>
                <a:spcPct val="100000"/>
              </a:lnSpc>
              <a:spcBef>
                <a:spcPts val="1200"/>
              </a:spcBef>
              <a:spcAft>
                <a:spcPts val="0"/>
              </a:spcAft>
              <a:buNone/>
            </a:pPr>
            <a:r>
              <a:t/>
            </a:r>
            <a:endParaRPr>
              <a:solidFill>
                <a:srgbClr val="595959"/>
              </a:solidFill>
              <a:highlight>
                <a:srgbClr val="FFFFFF"/>
              </a:highlight>
              <a:latin typeface="Arial"/>
              <a:ea typeface="Arial"/>
              <a:cs typeface="Arial"/>
              <a:sym typeface="Arial"/>
            </a:endParaRPr>
          </a:p>
          <a:p>
            <a:pPr indent="0" lvl="0" marL="0" rtl="0" algn="l">
              <a:spcBef>
                <a:spcPts val="0"/>
              </a:spcBef>
              <a:spcAft>
                <a:spcPts val="0"/>
              </a:spcAft>
              <a:buNone/>
            </a:pPr>
            <a:r>
              <a:t/>
            </a:r>
            <a:endParaRPr sz="1600">
              <a:solidFill>
                <a:srgbClr val="595959"/>
              </a:solidFill>
            </a:endParaRPr>
          </a:p>
        </p:txBody>
      </p:sp>
      <p:grpSp>
        <p:nvGrpSpPr>
          <p:cNvPr id="496" name="Google Shape;496;p40"/>
          <p:cNvGrpSpPr/>
          <p:nvPr/>
        </p:nvGrpSpPr>
        <p:grpSpPr>
          <a:xfrm>
            <a:off x="5430930" y="-445784"/>
            <a:ext cx="4086563" cy="6064817"/>
            <a:chOff x="5430930" y="-445784"/>
            <a:chExt cx="4086563" cy="6064817"/>
          </a:xfrm>
        </p:grpSpPr>
        <p:sp>
          <p:nvSpPr>
            <p:cNvPr id="497" name="Google Shape;497;p40"/>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0"/>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0"/>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0"/>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0"/>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0"/>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0"/>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0"/>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0"/>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0"/>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0"/>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0"/>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0"/>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0"/>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0"/>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0"/>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0"/>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1"/>
          <p:cNvSpPr txBox="1"/>
          <p:nvPr>
            <p:ph type="title"/>
          </p:nvPr>
        </p:nvSpPr>
        <p:spPr>
          <a:xfrm>
            <a:off x="499475" y="23327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Recommendations</a:t>
            </a:r>
            <a:endParaRPr/>
          </a:p>
        </p:txBody>
      </p:sp>
      <p:sp>
        <p:nvSpPr>
          <p:cNvPr id="520" name="Google Shape;520;p41"/>
          <p:cNvSpPr txBox="1"/>
          <p:nvPr>
            <p:ph idx="1" type="subTitle"/>
          </p:nvPr>
        </p:nvSpPr>
        <p:spPr>
          <a:xfrm>
            <a:off x="384750" y="1078600"/>
            <a:ext cx="5549700" cy="33945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Prioritize safety measures for </a:t>
            </a:r>
            <a:r>
              <a:rPr b="1" lang="en" sz="2100"/>
              <a:t>Motor Vehicle in Transport crashes</a:t>
            </a:r>
            <a:r>
              <a:rPr lang="en" sz="2100"/>
              <a:t>, where fatalities are highest</a:t>
            </a:r>
            <a:endParaRPr sz="2100"/>
          </a:p>
          <a:p>
            <a:pPr indent="-361950" lvl="0" marL="457200" rtl="0" algn="l">
              <a:spcBef>
                <a:spcPts val="0"/>
              </a:spcBef>
              <a:spcAft>
                <a:spcPts val="0"/>
              </a:spcAft>
              <a:buSzPts val="2100"/>
              <a:buChar char="●"/>
            </a:pPr>
            <a:r>
              <a:rPr lang="en" sz="2100"/>
              <a:t>Strengthen protections for pedestrians through </a:t>
            </a:r>
            <a:r>
              <a:rPr b="1" lang="en" sz="2100"/>
              <a:t>better crosswalks, lighting, and traffic calming</a:t>
            </a:r>
            <a:endParaRPr b="1" sz="2100"/>
          </a:p>
          <a:p>
            <a:pPr indent="-361950" lvl="0" marL="457200" rtl="0" algn="l">
              <a:spcBef>
                <a:spcPts val="0"/>
              </a:spcBef>
              <a:spcAft>
                <a:spcPts val="0"/>
              </a:spcAft>
              <a:buSzPts val="2100"/>
              <a:buChar char="●"/>
            </a:pPr>
            <a:r>
              <a:rPr lang="en" sz="2100"/>
              <a:t>Implement </a:t>
            </a:r>
            <a:r>
              <a:rPr b="1" lang="en" sz="2100"/>
              <a:t>stability and speed-control strategies </a:t>
            </a:r>
            <a:r>
              <a:rPr lang="en" sz="2100"/>
              <a:t>to reduce rollover/overturn crashes</a:t>
            </a:r>
            <a:endParaRPr sz="2100"/>
          </a:p>
          <a:p>
            <a:pPr indent="0" lvl="0" marL="457200" rtl="0" algn="l">
              <a:spcBef>
                <a:spcPts val="0"/>
              </a:spcBef>
              <a:spcAft>
                <a:spcPts val="0"/>
              </a:spcAft>
              <a:buNone/>
            </a:pPr>
            <a:r>
              <a:t/>
            </a:r>
            <a:endParaRPr sz="2100"/>
          </a:p>
          <a:p>
            <a:pPr indent="0" lvl="0" marL="457200" rtl="0" algn="l">
              <a:spcBef>
                <a:spcPts val="0"/>
              </a:spcBef>
              <a:spcAft>
                <a:spcPts val="0"/>
              </a:spcAft>
              <a:buNone/>
            </a:pPr>
            <a:r>
              <a:t/>
            </a:r>
            <a:endParaRPr sz="2100"/>
          </a:p>
          <a:p>
            <a:pPr indent="0" lvl="0" marL="0" rtl="0" algn="l">
              <a:lnSpc>
                <a:spcPct val="100000"/>
              </a:lnSpc>
              <a:spcBef>
                <a:spcPts val="0"/>
              </a:spcBef>
              <a:spcAft>
                <a:spcPts val="0"/>
              </a:spcAft>
              <a:buNone/>
            </a:pPr>
            <a:r>
              <a:t/>
            </a:r>
            <a:endParaRPr sz="2100"/>
          </a:p>
          <a:p>
            <a:pPr indent="0" lvl="0" marL="0" rtl="0" algn="l">
              <a:spcBef>
                <a:spcPts val="0"/>
              </a:spcBef>
              <a:spcAft>
                <a:spcPts val="0"/>
              </a:spcAft>
              <a:buNone/>
            </a:pPr>
            <a:r>
              <a:t/>
            </a:r>
            <a:endParaRPr sz="1600">
              <a:solidFill>
                <a:srgbClr val="595959"/>
              </a:solidFill>
            </a:endParaRPr>
          </a:p>
        </p:txBody>
      </p:sp>
      <p:grpSp>
        <p:nvGrpSpPr>
          <p:cNvPr id="521" name="Google Shape;521;p41"/>
          <p:cNvGrpSpPr/>
          <p:nvPr/>
        </p:nvGrpSpPr>
        <p:grpSpPr>
          <a:xfrm>
            <a:off x="5430930" y="-445784"/>
            <a:ext cx="4086563" cy="6064817"/>
            <a:chOff x="5430930" y="-445784"/>
            <a:chExt cx="4086563" cy="6064817"/>
          </a:xfrm>
        </p:grpSpPr>
        <p:sp>
          <p:nvSpPr>
            <p:cNvPr id="522" name="Google Shape;522;p41"/>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1"/>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1"/>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1"/>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1"/>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1"/>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1"/>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1"/>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1"/>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1"/>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1"/>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1"/>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1"/>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1"/>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1"/>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1"/>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1"/>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2"/>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Explanatory</a:t>
            </a:r>
            <a:endParaRPr/>
          </a:p>
        </p:txBody>
      </p:sp>
      <p:sp>
        <p:nvSpPr>
          <p:cNvPr id="545" name="Google Shape;545;p42"/>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grpSp>
        <p:nvGrpSpPr>
          <p:cNvPr id="546" name="Google Shape;546;p42"/>
          <p:cNvGrpSpPr/>
          <p:nvPr/>
        </p:nvGrpSpPr>
        <p:grpSpPr>
          <a:xfrm>
            <a:off x="5104880" y="-153372"/>
            <a:ext cx="4218588" cy="6000577"/>
            <a:chOff x="5104880" y="-153372"/>
            <a:chExt cx="4218588" cy="6000577"/>
          </a:xfrm>
        </p:grpSpPr>
        <p:sp>
          <p:nvSpPr>
            <p:cNvPr id="547" name="Google Shape;547;p42"/>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2"/>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2"/>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2"/>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2"/>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2"/>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2"/>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2"/>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2"/>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2"/>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2"/>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2"/>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2"/>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2"/>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2"/>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2"/>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64" name="Google Shape;564;p42"/>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3"/>
          <p:cNvSpPr txBox="1"/>
          <p:nvPr>
            <p:ph type="title"/>
          </p:nvPr>
        </p:nvSpPr>
        <p:spPr>
          <a:xfrm>
            <a:off x="137725" y="10977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Explanatory Analysis</a:t>
            </a:r>
            <a:endParaRPr sz="3800"/>
          </a:p>
        </p:txBody>
      </p:sp>
      <p:sp>
        <p:nvSpPr>
          <p:cNvPr id="570" name="Google Shape;570;p43"/>
          <p:cNvSpPr txBox="1"/>
          <p:nvPr>
            <p:ph idx="1" type="subTitle"/>
          </p:nvPr>
        </p:nvSpPr>
        <p:spPr>
          <a:xfrm>
            <a:off x="137725" y="919775"/>
            <a:ext cx="5605800" cy="34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595959"/>
                </a:solidFill>
                <a:latin typeface="Arial"/>
                <a:ea typeface="Arial"/>
                <a:cs typeface="Arial"/>
                <a:sym typeface="Arial"/>
              </a:rPr>
              <a:t>How do different combinations of lighting and weather relate to fatal crash outcomes?</a:t>
            </a:r>
            <a:endParaRPr b="1" sz="2000">
              <a:solidFill>
                <a:srgbClr val="595959"/>
              </a:solidFill>
              <a:latin typeface="Arial"/>
              <a:ea typeface="Arial"/>
              <a:cs typeface="Arial"/>
              <a:sym typeface="Arial"/>
            </a:endParaRPr>
          </a:p>
          <a:p>
            <a:pPr indent="0" lvl="0" marL="0" rtl="0" algn="l">
              <a:spcBef>
                <a:spcPts val="1200"/>
              </a:spcBef>
              <a:spcAft>
                <a:spcPts val="0"/>
              </a:spcAft>
              <a:buNone/>
            </a:pPr>
            <a:r>
              <a:rPr b="1" lang="en" sz="1800">
                <a:solidFill>
                  <a:srgbClr val="595959"/>
                </a:solidFill>
                <a:latin typeface="Arial"/>
                <a:ea typeface="Arial"/>
                <a:cs typeface="Arial"/>
                <a:sym typeface="Arial"/>
              </a:rPr>
              <a:t>Importance: </a:t>
            </a:r>
            <a:r>
              <a:rPr lang="en" sz="1800">
                <a:solidFill>
                  <a:srgbClr val="595959"/>
                </a:solidFill>
                <a:latin typeface="Arial"/>
                <a:ea typeface="Arial"/>
                <a:cs typeface="Arial"/>
                <a:sym typeface="Arial"/>
              </a:rPr>
              <a:t>Understanding these high-risk conditions is important because it helps transportation and safety agencies target improvements,such as better road lighting, weather alerts, and speed regulations to reduce fatal collisions.</a:t>
            </a:r>
            <a:endParaRPr sz="1800">
              <a:solidFill>
                <a:srgbClr val="595959"/>
              </a:solidFill>
              <a:latin typeface="Arial"/>
              <a:ea typeface="Arial"/>
              <a:cs typeface="Arial"/>
              <a:sym typeface="Arial"/>
            </a:endParaRPr>
          </a:p>
          <a:p>
            <a:pPr indent="0" lvl="0" marL="0" rtl="0" algn="l">
              <a:spcBef>
                <a:spcPts val="1200"/>
              </a:spcBef>
              <a:spcAft>
                <a:spcPts val="0"/>
              </a:spcAft>
              <a:buNone/>
            </a:pPr>
            <a:r>
              <a:t/>
            </a:r>
            <a:endParaRPr sz="1500">
              <a:solidFill>
                <a:srgbClr val="595959"/>
              </a:solidFill>
              <a:latin typeface="Arial"/>
              <a:ea typeface="Arial"/>
              <a:cs typeface="Arial"/>
              <a:sym typeface="Arial"/>
            </a:endParaRPr>
          </a:p>
          <a:p>
            <a:pPr indent="0" lvl="0" marL="0" rtl="0" algn="l">
              <a:spcBef>
                <a:spcPts val="1200"/>
              </a:spcBef>
              <a:spcAft>
                <a:spcPts val="0"/>
              </a:spcAft>
              <a:buNone/>
            </a:pPr>
            <a:r>
              <a:t/>
            </a:r>
            <a:endParaRPr/>
          </a:p>
        </p:txBody>
      </p:sp>
      <p:grpSp>
        <p:nvGrpSpPr>
          <p:cNvPr id="571" name="Google Shape;571;p43"/>
          <p:cNvGrpSpPr/>
          <p:nvPr/>
        </p:nvGrpSpPr>
        <p:grpSpPr>
          <a:xfrm>
            <a:off x="5430930" y="-445784"/>
            <a:ext cx="4086563" cy="6064817"/>
            <a:chOff x="5430930" y="-445784"/>
            <a:chExt cx="4086563" cy="6064817"/>
          </a:xfrm>
        </p:grpSpPr>
        <p:sp>
          <p:nvSpPr>
            <p:cNvPr id="572" name="Google Shape;572;p43"/>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3"/>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3"/>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3"/>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3"/>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3"/>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3"/>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3"/>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3"/>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3"/>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3"/>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3"/>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3"/>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3"/>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3"/>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3"/>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3"/>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3"/>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pic>
        <p:nvPicPr>
          <p:cNvPr id="594" name="Google Shape;594;p44" title="Image 11-16-25 at 6.50 PM.jpeg"/>
          <p:cNvPicPr preferRelativeResize="0"/>
          <p:nvPr/>
        </p:nvPicPr>
        <p:blipFill>
          <a:blip r:embed="rId3">
            <a:alphaModFix/>
          </a:blip>
          <a:stretch>
            <a:fillRect/>
          </a:stretch>
        </p:blipFill>
        <p:spPr>
          <a:xfrm>
            <a:off x="0" y="0"/>
            <a:ext cx="9143999"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5"/>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600" name="Google Shape;600;p45"/>
          <p:cNvSpPr txBox="1"/>
          <p:nvPr>
            <p:ph idx="1" type="subTitle"/>
          </p:nvPr>
        </p:nvSpPr>
        <p:spPr>
          <a:xfrm>
            <a:off x="720000" y="1352100"/>
            <a:ext cx="4710900" cy="288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100"/>
              <a:t>The highest fatalities occur during </a:t>
            </a:r>
            <a:r>
              <a:rPr b="1" lang="en" sz="2100"/>
              <a:t>clear weather</a:t>
            </a:r>
            <a:r>
              <a:rPr lang="en" sz="2100"/>
              <a:t>, especially in </a:t>
            </a:r>
            <a:r>
              <a:rPr b="1" lang="en" sz="2100"/>
              <a:t>daylight</a:t>
            </a:r>
            <a:r>
              <a:rPr lang="en" sz="2100"/>
              <a:t> and </a:t>
            </a:r>
            <a:r>
              <a:rPr b="1" lang="en" sz="2100"/>
              <a:t>dark, non-lighted</a:t>
            </a:r>
            <a:r>
              <a:rPr lang="en" sz="2100"/>
              <a:t> conditions. By identifying the environmental conditions linked to the most severe crashes, this analysis can support better </a:t>
            </a:r>
            <a:r>
              <a:rPr b="1" lang="en" sz="2100"/>
              <a:t>road safety planning and prevention efforts</a:t>
            </a:r>
            <a:r>
              <a:rPr lang="en" sz="2100"/>
              <a:t>.</a:t>
            </a:r>
            <a:endParaRPr sz="2100"/>
          </a:p>
          <a:p>
            <a:pPr indent="0" lvl="0" marL="0" rtl="0" algn="l">
              <a:spcBef>
                <a:spcPts val="0"/>
              </a:spcBef>
              <a:spcAft>
                <a:spcPts val="0"/>
              </a:spcAft>
              <a:buNone/>
            </a:pPr>
            <a:r>
              <a:t/>
            </a:r>
            <a:endParaRPr sz="1600">
              <a:solidFill>
                <a:srgbClr val="595959"/>
              </a:solidFill>
            </a:endParaRPr>
          </a:p>
        </p:txBody>
      </p:sp>
      <p:grpSp>
        <p:nvGrpSpPr>
          <p:cNvPr id="601" name="Google Shape;601;p45"/>
          <p:cNvGrpSpPr/>
          <p:nvPr/>
        </p:nvGrpSpPr>
        <p:grpSpPr>
          <a:xfrm>
            <a:off x="5430930" y="-445784"/>
            <a:ext cx="4086563" cy="6064817"/>
            <a:chOff x="5430930" y="-445784"/>
            <a:chExt cx="4086563" cy="6064817"/>
          </a:xfrm>
        </p:grpSpPr>
        <p:sp>
          <p:nvSpPr>
            <p:cNvPr id="602" name="Google Shape;602;p45"/>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5"/>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5"/>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5"/>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5"/>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5"/>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5"/>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5"/>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5"/>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5"/>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5"/>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5"/>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5"/>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5"/>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5"/>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5"/>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6"/>
          <p:cNvSpPr txBox="1"/>
          <p:nvPr>
            <p:ph type="title"/>
          </p:nvPr>
        </p:nvSpPr>
        <p:spPr>
          <a:xfrm>
            <a:off x="614150" y="23327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Recommendations</a:t>
            </a:r>
            <a:endParaRPr/>
          </a:p>
        </p:txBody>
      </p:sp>
      <p:sp>
        <p:nvSpPr>
          <p:cNvPr id="625" name="Google Shape;625;p46"/>
          <p:cNvSpPr txBox="1"/>
          <p:nvPr>
            <p:ph idx="1" type="subTitle"/>
          </p:nvPr>
        </p:nvSpPr>
        <p:spPr>
          <a:xfrm>
            <a:off x="543550" y="1078600"/>
            <a:ext cx="4970400" cy="33945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Improve lighting in </a:t>
            </a:r>
            <a:r>
              <a:rPr b="1" lang="en" sz="2100"/>
              <a:t>dark, non-lit areas</a:t>
            </a:r>
            <a:endParaRPr b="1" sz="2100"/>
          </a:p>
          <a:p>
            <a:pPr indent="-361950" lvl="0" marL="457200" rtl="0" algn="l">
              <a:spcBef>
                <a:spcPts val="0"/>
              </a:spcBef>
              <a:spcAft>
                <a:spcPts val="0"/>
              </a:spcAft>
              <a:buSzPts val="2100"/>
              <a:buChar char="●"/>
            </a:pPr>
            <a:r>
              <a:rPr lang="en" sz="2100"/>
              <a:t>Enhance visibility with better </a:t>
            </a:r>
            <a:r>
              <a:rPr b="1" lang="en" sz="2100"/>
              <a:t>markings and speed controls</a:t>
            </a:r>
            <a:endParaRPr b="1" sz="2100"/>
          </a:p>
          <a:p>
            <a:pPr indent="-361950" lvl="0" marL="457200" rtl="0" algn="l">
              <a:spcBef>
                <a:spcPts val="0"/>
              </a:spcBef>
              <a:spcAft>
                <a:spcPts val="0"/>
              </a:spcAft>
              <a:buSzPts val="2100"/>
              <a:buChar char="●"/>
            </a:pPr>
            <a:r>
              <a:rPr b="1" lang="en" sz="2100"/>
              <a:t>Target high-risk zones</a:t>
            </a:r>
            <a:r>
              <a:rPr lang="en" sz="2100"/>
              <a:t> with focused enforcement and safety measures</a:t>
            </a:r>
            <a:endParaRPr sz="2100"/>
          </a:p>
          <a:p>
            <a:pPr indent="0" lvl="0" marL="0" rtl="0" algn="l">
              <a:lnSpc>
                <a:spcPct val="100000"/>
              </a:lnSpc>
              <a:spcBef>
                <a:spcPts val="0"/>
              </a:spcBef>
              <a:spcAft>
                <a:spcPts val="0"/>
              </a:spcAft>
              <a:buNone/>
            </a:pPr>
            <a:r>
              <a:t/>
            </a:r>
            <a:endParaRPr sz="2100"/>
          </a:p>
          <a:p>
            <a:pPr indent="0" lvl="0" marL="0" rtl="0" algn="l">
              <a:spcBef>
                <a:spcPts val="0"/>
              </a:spcBef>
              <a:spcAft>
                <a:spcPts val="0"/>
              </a:spcAft>
              <a:buNone/>
            </a:pPr>
            <a:r>
              <a:t/>
            </a:r>
            <a:endParaRPr sz="1600">
              <a:solidFill>
                <a:srgbClr val="595959"/>
              </a:solidFill>
            </a:endParaRPr>
          </a:p>
        </p:txBody>
      </p:sp>
      <p:grpSp>
        <p:nvGrpSpPr>
          <p:cNvPr id="626" name="Google Shape;626;p46"/>
          <p:cNvGrpSpPr/>
          <p:nvPr/>
        </p:nvGrpSpPr>
        <p:grpSpPr>
          <a:xfrm>
            <a:off x="5430930" y="-445784"/>
            <a:ext cx="4086563" cy="6064817"/>
            <a:chOff x="5430930" y="-445784"/>
            <a:chExt cx="4086563" cy="6064817"/>
          </a:xfrm>
        </p:grpSpPr>
        <p:sp>
          <p:nvSpPr>
            <p:cNvPr id="627" name="Google Shape;627;p46"/>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6"/>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6"/>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6"/>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6"/>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6"/>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6"/>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6"/>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6"/>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6"/>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6"/>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6"/>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6"/>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6"/>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6"/>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6"/>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7"/>
          <p:cNvSpPr txBox="1"/>
          <p:nvPr>
            <p:ph type="title"/>
          </p:nvPr>
        </p:nvSpPr>
        <p:spPr>
          <a:xfrm>
            <a:off x="573450" y="25975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endParaRPr/>
          </a:p>
        </p:txBody>
      </p:sp>
      <p:sp>
        <p:nvSpPr>
          <p:cNvPr id="650" name="Google Shape;650;p47"/>
          <p:cNvSpPr txBox="1"/>
          <p:nvPr>
            <p:ph idx="1" type="subTitle"/>
          </p:nvPr>
        </p:nvSpPr>
        <p:spPr>
          <a:xfrm>
            <a:off x="573450" y="1042200"/>
            <a:ext cx="4967100" cy="305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Arial"/>
                <a:ea typeface="Arial"/>
                <a:cs typeface="Arial"/>
                <a:sym typeface="Arial"/>
              </a:rPr>
              <a:t>Our analysis of the FARS 2022 data shows that </a:t>
            </a:r>
            <a:r>
              <a:rPr b="1" lang="en" sz="1600">
                <a:solidFill>
                  <a:srgbClr val="000000"/>
                </a:solidFill>
                <a:latin typeface="Arial"/>
                <a:ea typeface="Arial"/>
                <a:cs typeface="Arial"/>
                <a:sym typeface="Arial"/>
              </a:rPr>
              <a:t>motor-vehicle-in-transport</a:t>
            </a:r>
            <a:r>
              <a:rPr lang="en" sz="1600">
                <a:solidFill>
                  <a:srgbClr val="000000"/>
                </a:solidFill>
                <a:latin typeface="Arial"/>
                <a:ea typeface="Arial"/>
                <a:cs typeface="Arial"/>
                <a:sym typeface="Arial"/>
              </a:rPr>
              <a:t> crashes and </a:t>
            </a:r>
            <a:r>
              <a:rPr b="1" lang="en" sz="1600">
                <a:solidFill>
                  <a:srgbClr val="000000"/>
                </a:solidFill>
                <a:latin typeface="Arial"/>
                <a:ea typeface="Arial"/>
                <a:cs typeface="Arial"/>
                <a:sym typeface="Arial"/>
              </a:rPr>
              <a:t>pedestrian</a:t>
            </a:r>
            <a:r>
              <a:rPr lang="en" sz="1600">
                <a:solidFill>
                  <a:srgbClr val="000000"/>
                </a:solidFill>
                <a:latin typeface="Arial"/>
                <a:ea typeface="Arial"/>
                <a:cs typeface="Arial"/>
                <a:sym typeface="Arial"/>
              </a:rPr>
              <a:t> collisions resulted in the highest number of fatalities, making them key targets for safety improvement. </a:t>
            </a:r>
            <a:endParaRPr sz="1600">
              <a:solidFill>
                <a:srgbClr val="000000"/>
              </a:solidFill>
              <a:latin typeface="Arial"/>
              <a:ea typeface="Arial"/>
              <a:cs typeface="Arial"/>
              <a:sym typeface="Arial"/>
            </a:endParaRPr>
          </a:p>
          <a:p>
            <a:pPr indent="0" lvl="0" marL="0" rtl="0" algn="l">
              <a:spcBef>
                <a:spcPts val="0"/>
              </a:spcBef>
              <a:spcAft>
                <a:spcPts val="0"/>
              </a:spcAft>
              <a:buNone/>
            </a:pPr>
            <a:r>
              <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Fatalities were also most common in </a:t>
            </a:r>
            <a:r>
              <a:rPr b="1" lang="en" sz="1600">
                <a:solidFill>
                  <a:srgbClr val="000000"/>
                </a:solidFill>
                <a:latin typeface="Arial"/>
                <a:ea typeface="Arial"/>
                <a:cs typeface="Arial"/>
                <a:sym typeface="Arial"/>
              </a:rPr>
              <a:t>clear weather</a:t>
            </a:r>
            <a:r>
              <a:rPr lang="en" sz="1600">
                <a:solidFill>
                  <a:srgbClr val="000000"/>
                </a:solidFill>
                <a:latin typeface="Arial"/>
                <a:ea typeface="Arial"/>
                <a:cs typeface="Arial"/>
                <a:sym typeface="Arial"/>
              </a:rPr>
              <a:t> and during </a:t>
            </a:r>
            <a:r>
              <a:rPr b="1" lang="en" sz="1600">
                <a:solidFill>
                  <a:srgbClr val="000000"/>
                </a:solidFill>
                <a:latin typeface="Arial"/>
                <a:ea typeface="Arial"/>
                <a:cs typeface="Arial"/>
                <a:sym typeface="Arial"/>
              </a:rPr>
              <a:t>daylight</a:t>
            </a:r>
            <a:r>
              <a:rPr lang="en" sz="1600">
                <a:solidFill>
                  <a:srgbClr val="000000"/>
                </a:solidFill>
                <a:latin typeface="Arial"/>
                <a:ea typeface="Arial"/>
                <a:cs typeface="Arial"/>
                <a:sym typeface="Arial"/>
              </a:rPr>
              <a:t> or </a:t>
            </a:r>
            <a:r>
              <a:rPr b="1" lang="en" sz="1600">
                <a:solidFill>
                  <a:srgbClr val="000000"/>
                </a:solidFill>
                <a:latin typeface="Arial"/>
                <a:ea typeface="Arial"/>
                <a:cs typeface="Arial"/>
                <a:sym typeface="Arial"/>
              </a:rPr>
              <a:t>dark, non-lighted</a:t>
            </a:r>
            <a:r>
              <a:rPr lang="en" sz="1600">
                <a:solidFill>
                  <a:srgbClr val="000000"/>
                </a:solidFill>
                <a:latin typeface="Arial"/>
                <a:ea typeface="Arial"/>
                <a:cs typeface="Arial"/>
                <a:sym typeface="Arial"/>
              </a:rPr>
              <a:t> conditions, which suggests that visibility and driver behavior play a major role in deadly crashes. These insights can help guide roadway design, enforcement, and public safety efforts to reduce the conditions most linked to fatal accidents.</a:t>
            </a:r>
            <a:endParaRPr sz="2200"/>
          </a:p>
        </p:txBody>
      </p:sp>
      <p:grpSp>
        <p:nvGrpSpPr>
          <p:cNvPr id="651" name="Google Shape;651;p47"/>
          <p:cNvGrpSpPr/>
          <p:nvPr/>
        </p:nvGrpSpPr>
        <p:grpSpPr>
          <a:xfrm>
            <a:off x="5430930" y="-445784"/>
            <a:ext cx="4086563" cy="6064817"/>
            <a:chOff x="5430930" y="-445784"/>
            <a:chExt cx="4086563" cy="6064817"/>
          </a:xfrm>
        </p:grpSpPr>
        <p:sp>
          <p:nvSpPr>
            <p:cNvPr id="652" name="Google Shape;652;p47"/>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7"/>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7"/>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7"/>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7"/>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7"/>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7"/>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7"/>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7"/>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7"/>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7"/>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7"/>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7"/>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7"/>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7"/>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7"/>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7"/>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7"/>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4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rPr lang="en" sz="3600"/>
              <a:t>Thank you!</a:t>
            </a:r>
            <a:endParaRPr sz="3600"/>
          </a:p>
        </p:txBody>
      </p:sp>
      <p:grpSp>
        <p:nvGrpSpPr>
          <p:cNvPr id="675" name="Google Shape;675;p48"/>
          <p:cNvGrpSpPr/>
          <p:nvPr/>
        </p:nvGrpSpPr>
        <p:grpSpPr>
          <a:xfrm>
            <a:off x="-311973" y="-106034"/>
            <a:ext cx="3997531" cy="5454467"/>
            <a:chOff x="-311973" y="-106034"/>
            <a:chExt cx="3997531" cy="5454467"/>
          </a:xfrm>
        </p:grpSpPr>
        <p:sp>
          <p:nvSpPr>
            <p:cNvPr id="676" name="Google Shape;676;p48"/>
            <p:cNvSpPr/>
            <p:nvPr/>
          </p:nvSpPr>
          <p:spPr>
            <a:xfrm>
              <a:off x="2084909" y="6430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8"/>
            <p:cNvSpPr/>
            <p:nvPr/>
          </p:nvSpPr>
          <p:spPr>
            <a:xfrm>
              <a:off x="1401408" y="27017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8"/>
            <p:cNvSpPr/>
            <p:nvPr/>
          </p:nvSpPr>
          <p:spPr>
            <a:xfrm>
              <a:off x="1061727" y="4905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8"/>
            <p:cNvSpPr/>
            <p:nvPr/>
          </p:nvSpPr>
          <p:spPr>
            <a:xfrm>
              <a:off x="644984" y="-10603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8"/>
            <p:cNvSpPr/>
            <p:nvPr/>
          </p:nvSpPr>
          <p:spPr>
            <a:xfrm>
              <a:off x="822495" y="15961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8"/>
            <p:cNvSpPr/>
            <p:nvPr/>
          </p:nvSpPr>
          <p:spPr>
            <a:xfrm>
              <a:off x="1401408" y="199529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8"/>
            <p:cNvSpPr/>
            <p:nvPr/>
          </p:nvSpPr>
          <p:spPr>
            <a:xfrm>
              <a:off x="2008129" y="17131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8"/>
            <p:cNvSpPr/>
            <p:nvPr/>
          </p:nvSpPr>
          <p:spPr>
            <a:xfrm flipH="1" rot="10800000">
              <a:off x="-72150" y="24780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8"/>
            <p:cNvSpPr/>
            <p:nvPr/>
          </p:nvSpPr>
          <p:spPr>
            <a:xfrm flipH="1" rot="10800000">
              <a:off x="876630" y="37414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8"/>
            <p:cNvSpPr/>
            <p:nvPr/>
          </p:nvSpPr>
          <p:spPr>
            <a:xfrm flipH="1" rot="10800000">
              <a:off x="324034" y="41605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8"/>
            <p:cNvSpPr/>
            <p:nvPr/>
          </p:nvSpPr>
          <p:spPr>
            <a:xfrm>
              <a:off x="2455608" y="27831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8"/>
            <p:cNvSpPr/>
            <p:nvPr/>
          </p:nvSpPr>
          <p:spPr>
            <a:xfrm>
              <a:off x="2846848" y="32663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8"/>
            <p:cNvSpPr/>
            <p:nvPr/>
          </p:nvSpPr>
          <p:spPr>
            <a:xfrm flipH="1" rot="10800000">
              <a:off x="1900437" y="38532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8"/>
            <p:cNvSpPr/>
            <p:nvPr/>
          </p:nvSpPr>
          <p:spPr>
            <a:xfrm flipH="1" rot="10800000">
              <a:off x="2417668" y="43803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8"/>
            <p:cNvSpPr/>
            <p:nvPr/>
          </p:nvSpPr>
          <p:spPr>
            <a:xfrm>
              <a:off x="347208" y="29254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8"/>
            <p:cNvSpPr/>
            <p:nvPr/>
          </p:nvSpPr>
          <p:spPr>
            <a:xfrm>
              <a:off x="2523872" y="2239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8"/>
            <p:cNvSpPr/>
            <p:nvPr/>
          </p:nvSpPr>
          <p:spPr>
            <a:xfrm>
              <a:off x="-311973" y="13865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8"/>
            <p:cNvSpPr/>
            <p:nvPr/>
          </p:nvSpPr>
          <p:spPr>
            <a:xfrm>
              <a:off x="96929" y="8031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4" name="Google Shape;694;p48"/>
          <p:cNvCxnSpPr/>
          <p:nvPr/>
        </p:nvCxnSpPr>
        <p:spPr>
          <a:xfrm>
            <a:off x="4394150" y="1562388"/>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